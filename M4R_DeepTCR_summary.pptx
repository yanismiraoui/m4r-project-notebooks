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CD1750-4396-448F-9134-3C6658E344CA}" type="doc">
      <dgm:prSet loTypeId="urn:microsoft.com/office/officeart/2008/layout/VerticalCurv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BB712E-7853-4B42-8F74-801980A21353}">
      <dgm:prSet phldrT="[Texte]"/>
      <dgm:spPr/>
      <dgm:t>
        <a:bodyPr/>
        <a:lstStyle/>
        <a:p>
          <a:r>
            <a:rPr lang="en-US" b="1" dirty="0"/>
            <a:t>A deep learning method for representation of TCRs</a:t>
          </a:r>
        </a:p>
      </dgm:t>
    </dgm:pt>
    <dgm:pt modelId="{CA3FBD5A-883C-462C-A1FC-8E34B1496C2A}" type="parTrans" cxnId="{34F7CFAE-AF84-44A4-8637-52249887CB46}">
      <dgm:prSet/>
      <dgm:spPr/>
      <dgm:t>
        <a:bodyPr/>
        <a:lstStyle/>
        <a:p>
          <a:endParaRPr lang="en-US" b="1"/>
        </a:p>
      </dgm:t>
    </dgm:pt>
    <dgm:pt modelId="{515C5FAA-75C7-438A-8F9D-0986A4D0010E}" type="sibTrans" cxnId="{34F7CFAE-AF84-44A4-8637-52249887CB46}">
      <dgm:prSet/>
      <dgm:spPr/>
      <dgm:t>
        <a:bodyPr/>
        <a:lstStyle/>
        <a:p>
          <a:endParaRPr lang="en-US" b="1"/>
        </a:p>
      </dgm:t>
    </dgm:pt>
    <dgm:pt modelId="{D2AB2A5E-D286-4908-8E16-51654AF27806}">
      <dgm:prSet phldrT="[Texte]"/>
      <dgm:spPr/>
      <dgm:t>
        <a:bodyPr/>
        <a:lstStyle/>
        <a:p>
          <a:r>
            <a:rPr lang="en-US" b="1" dirty="0"/>
            <a:t>Where supervised</a:t>
          </a:r>
          <a:r>
            <a:rPr lang="en-US" b="1" baseline="0" dirty="0"/>
            <a:t> and unsupervised methods are explored</a:t>
          </a:r>
          <a:endParaRPr lang="en-US" b="1" dirty="0"/>
        </a:p>
      </dgm:t>
    </dgm:pt>
    <dgm:pt modelId="{69340ABD-DE9D-420B-A759-6C54E4B94F97}" type="parTrans" cxnId="{6FE169EB-FD07-46D9-ABD7-0D0CE18BE509}">
      <dgm:prSet/>
      <dgm:spPr/>
      <dgm:t>
        <a:bodyPr/>
        <a:lstStyle/>
        <a:p>
          <a:endParaRPr lang="en-US" b="1"/>
        </a:p>
      </dgm:t>
    </dgm:pt>
    <dgm:pt modelId="{EC659759-6E63-439C-9742-C3C39F35A503}" type="sibTrans" cxnId="{6FE169EB-FD07-46D9-ABD7-0D0CE18BE509}">
      <dgm:prSet/>
      <dgm:spPr/>
      <dgm:t>
        <a:bodyPr/>
        <a:lstStyle/>
        <a:p>
          <a:endParaRPr lang="en-US" b="1"/>
        </a:p>
      </dgm:t>
    </dgm:pt>
    <dgm:pt modelId="{1596B1D4-205B-47C2-8FB8-732F131A9A35}">
      <dgm:prSet/>
      <dgm:spPr/>
      <dgm:t>
        <a:bodyPr/>
        <a:lstStyle/>
        <a:p>
          <a:r>
            <a:rPr lang="en-US" b="1" dirty="0"/>
            <a:t>But also, a Python framework simplifying the analysis of TCRs </a:t>
          </a:r>
        </a:p>
      </dgm:t>
    </dgm:pt>
    <dgm:pt modelId="{4C2FF717-F875-4C4F-B52B-6B1AD83243E3}" type="parTrans" cxnId="{8A4F3E49-9E75-4585-83BF-8EB004FA7877}">
      <dgm:prSet/>
      <dgm:spPr/>
      <dgm:t>
        <a:bodyPr/>
        <a:lstStyle/>
        <a:p>
          <a:endParaRPr lang="en-US" b="1"/>
        </a:p>
      </dgm:t>
    </dgm:pt>
    <dgm:pt modelId="{F44DB654-8023-40DB-AE90-DAC3FCF59022}" type="sibTrans" cxnId="{8A4F3E49-9E75-4585-83BF-8EB004FA7877}">
      <dgm:prSet/>
      <dgm:spPr/>
      <dgm:t>
        <a:bodyPr/>
        <a:lstStyle/>
        <a:p>
          <a:endParaRPr lang="en-US" b="1"/>
        </a:p>
      </dgm:t>
    </dgm:pt>
    <dgm:pt modelId="{239E9AD6-036C-46D7-B96F-43F3D687E3E0}" type="pres">
      <dgm:prSet presAssocID="{C1CD1750-4396-448F-9134-3C6658E344CA}" presName="Name0" presStyleCnt="0">
        <dgm:presLayoutVars>
          <dgm:chMax val="7"/>
          <dgm:chPref val="7"/>
          <dgm:dir/>
        </dgm:presLayoutVars>
      </dgm:prSet>
      <dgm:spPr/>
    </dgm:pt>
    <dgm:pt modelId="{3A4ED215-C729-4EF2-B115-B0E873FF8C07}" type="pres">
      <dgm:prSet presAssocID="{C1CD1750-4396-448F-9134-3C6658E344CA}" presName="Name1" presStyleCnt="0"/>
      <dgm:spPr/>
    </dgm:pt>
    <dgm:pt modelId="{65B89776-E7A5-403A-B36C-A50FAD9E1A75}" type="pres">
      <dgm:prSet presAssocID="{C1CD1750-4396-448F-9134-3C6658E344CA}" presName="cycle" presStyleCnt="0"/>
      <dgm:spPr/>
    </dgm:pt>
    <dgm:pt modelId="{416E336B-9474-4E01-9C5E-28EDACB7ACCA}" type="pres">
      <dgm:prSet presAssocID="{C1CD1750-4396-448F-9134-3C6658E344CA}" presName="srcNode" presStyleLbl="node1" presStyleIdx="0" presStyleCnt="3"/>
      <dgm:spPr/>
    </dgm:pt>
    <dgm:pt modelId="{306B2BC2-4C3F-4E39-8734-E249E581000A}" type="pres">
      <dgm:prSet presAssocID="{C1CD1750-4396-448F-9134-3C6658E344CA}" presName="conn" presStyleLbl="parChTrans1D2" presStyleIdx="0" presStyleCnt="1"/>
      <dgm:spPr/>
    </dgm:pt>
    <dgm:pt modelId="{35C75BA4-B2B4-404F-B29E-11EA782C93F4}" type="pres">
      <dgm:prSet presAssocID="{C1CD1750-4396-448F-9134-3C6658E344CA}" presName="extraNode" presStyleLbl="node1" presStyleIdx="0" presStyleCnt="3"/>
      <dgm:spPr/>
    </dgm:pt>
    <dgm:pt modelId="{3F511BB4-453F-4673-AA48-A1A368BFA568}" type="pres">
      <dgm:prSet presAssocID="{C1CD1750-4396-448F-9134-3C6658E344CA}" presName="dstNode" presStyleLbl="node1" presStyleIdx="0" presStyleCnt="3"/>
      <dgm:spPr/>
    </dgm:pt>
    <dgm:pt modelId="{1280B066-7734-4E88-8B9B-81947E427F40}" type="pres">
      <dgm:prSet presAssocID="{04BB712E-7853-4B42-8F74-801980A21353}" presName="text_1" presStyleLbl="node1" presStyleIdx="0" presStyleCnt="3">
        <dgm:presLayoutVars>
          <dgm:bulletEnabled val="1"/>
        </dgm:presLayoutVars>
      </dgm:prSet>
      <dgm:spPr/>
    </dgm:pt>
    <dgm:pt modelId="{2CB55737-DE9D-47C7-8283-3E9D35324F64}" type="pres">
      <dgm:prSet presAssocID="{04BB712E-7853-4B42-8F74-801980A21353}" presName="accent_1" presStyleCnt="0"/>
      <dgm:spPr/>
    </dgm:pt>
    <dgm:pt modelId="{CD9B462A-E2C3-44C2-BFAA-57CE8D53C83B}" type="pres">
      <dgm:prSet presAssocID="{04BB712E-7853-4B42-8F74-801980A21353}" presName="accentRepeatNode" presStyleLbl="solidFgAcc1" presStyleIdx="0" presStyleCnt="3"/>
      <dgm:spPr/>
    </dgm:pt>
    <dgm:pt modelId="{2A5369D1-98AC-47F5-9162-B242C3B952C6}" type="pres">
      <dgm:prSet presAssocID="{D2AB2A5E-D286-4908-8E16-51654AF27806}" presName="text_2" presStyleLbl="node1" presStyleIdx="1" presStyleCnt="3">
        <dgm:presLayoutVars>
          <dgm:bulletEnabled val="1"/>
        </dgm:presLayoutVars>
      </dgm:prSet>
      <dgm:spPr/>
    </dgm:pt>
    <dgm:pt modelId="{5F8F394B-D8AE-481D-9649-D53ED801D89A}" type="pres">
      <dgm:prSet presAssocID="{D2AB2A5E-D286-4908-8E16-51654AF27806}" presName="accent_2" presStyleCnt="0"/>
      <dgm:spPr/>
    </dgm:pt>
    <dgm:pt modelId="{2CF5A2B6-9F59-41B4-8DF7-686994696111}" type="pres">
      <dgm:prSet presAssocID="{D2AB2A5E-D286-4908-8E16-51654AF27806}" presName="accentRepeatNode" presStyleLbl="solidFgAcc1" presStyleIdx="1" presStyleCnt="3"/>
      <dgm:spPr/>
    </dgm:pt>
    <dgm:pt modelId="{3BF05695-EE00-4559-BA3B-2122E4C292EB}" type="pres">
      <dgm:prSet presAssocID="{1596B1D4-205B-47C2-8FB8-732F131A9A35}" presName="text_3" presStyleLbl="node1" presStyleIdx="2" presStyleCnt="3">
        <dgm:presLayoutVars>
          <dgm:bulletEnabled val="1"/>
        </dgm:presLayoutVars>
      </dgm:prSet>
      <dgm:spPr/>
    </dgm:pt>
    <dgm:pt modelId="{F53ECFC4-AE78-4246-9D08-7D0BCA8D405B}" type="pres">
      <dgm:prSet presAssocID="{1596B1D4-205B-47C2-8FB8-732F131A9A35}" presName="accent_3" presStyleCnt="0"/>
      <dgm:spPr/>
    </dgm:pt>
    <dgm:pt modelId="{E4C5382B-019A-44AF-86A6-C1CC80F4437B}" type="pres">
      <dgm:prSet presAssocID="{1596B1D4-205B-47C2-8FB8-732F131A9A35}" presName="accentRepeatNode" presStyleLbl="solidFgAcc1" presStyleIdx="2" presStyleCnt="3"/>
      <dgm:spPr/>
    </dgm:pt>
  </dgm:ptLst>
  <dgm:cxnLst>
    <dgm:cxn modelId="{415A9B21-37D4-40E0-B056-04344D321064}" type="presOf" srcId="{D2AB2A5E-D286-4908-8E16-51654AF27806}" destId="{2A5369D1-98AC-47F5-9162-B242C3B952C6}" srcOrd="0" destOrd="0" presId="urn:microsoft.com/office/officeart/2008/layout/VerticalCurvedList"/>
    <dgm:cxn modelId="{8A4F3E49-9E75-4585-83BF-8EB004FA7877}" srcId="{C1CD1750-4396-448F-9134-3C6658E344CA}" destId="{1596B1D4-205B-47C2-8FB8-732F131A9A35}" srcOrd="2" destOrd="0" parTransId="{4C2FF717-F875-4C4F-B52B-6B1AD83243E3}" sibTransId="{F44DB654-8023-40DB-AE90-DAC3FCF59022}"/>
    <dgm:cxn modelId="{08E0EA84-CF5E-416F-8037-649620E52E3C}" type="presOf" srcId="{1596B1D4-205B-47C2-8FB8-732F131A9A35}" destId="{3BF05695-EE00-4559-BA3B-2122E4C292EB}" srcOrd="0" destOrd="0" presId="urn:microsoft.com/office/officeart/2008/layout/VerticalCurvedList"/>
    <dgm:cxn modelId="{41F87A9E-E4AE-47E3-8F6F-A5E791342EDC}" type="presOf" srcId="{C1CD1750-4396-448F-9134-3C6658E344CA}" destId="{239E9AD6-036C-46D7-B96F-43F3D687E3E0}" srcOrd="0" destOrd="0" presId="urn:microsoft.com/office/officeart/2008/layout/VerticalCurvedList"/>
    <dgm:cxn modelId="{34F7CFAE-AF84-44A4-8637-52249887CB46}" srcId="{C1CD1750-4396-448F-9134-3C6658E344CA}" destId="{04BB712E-7853-4B42-8F74-801980A21353}" srcOrd="0" destOrd="0" parTransId="{CA3FBD5A-883C-462C-A1FC-8E34B1496C2A}" sibTransId="{515C5FAA-75C7-438A-8F9D-0986A4D0010E}"/>
    <dgm:cxn modelId="{3B910EE5-096B-45E5-8377-54E3D659A476}" type="presOf" srcId="{515C5FAA-75C7-438A-8F9D-0986A4D0010E}" destId="{306B2BC2-4C3F-4E39-8734-E249E581000A}" srcOrd="0" destOrd="0" presId="urn:microsoft.com/office/officeart/2008/layout/VerticalCurvedList"/>
    <dgm:cxn modelId="{70048BE8-9353-44DA-92A2-6A0185A0899E}" type="presOf" srcId="{04BB712E-7853-4B42-8F74-801980A21353}" destId="{1280B066-7734-4E88-8B9B-81947E427F40}" srcOrd="0" destOrd="0" presId="urn:microsoft.com/office/officeart/2008/layout/VerticalCurvedList"/>
    <dgm:cxn modelId="{6FE169EB-FD07-46D9-ABD7-0D0CE18BE509}" srcId="{C1CD1750-4396-448F-9134-3C6658E344CA}" destId="{D2AB2A5E-D286-4908-8E16-51654AF27806}" srcOrd="1" destOrd="0" parTransId="{69340ABD-DE9D-420B-A759-6C54E4B94F97}" sibTransId="{EC659759-6E63-439C-9742-C3C39F35A503}"/>
    <dgm:cxn modelId="{C1B7CE3B-0391-447C-950A-51415389EBBF}" type="presParOf" srcId="{239E9AD6-036C-46D7-B96F-43F3D687E3E0}" destId="{3A4ED215-C729-4EF2-B115-B0E873FF8C07}" srcOrd="0" destOrd="0" presId="urn:microsoft.com/office/officeart/2008/layout/VerticalCurvedList"/>
    <dgm:cxn modelId="{BD3B8811-C239-4C4B-8AEC-C8D448201A58}" type="presParOf" srcId="{3A4ED215-C729-4EF2-B115-B0E873FF8C07}" destId="{65B89776-E7A5-403A-B36C-A50FAD9E1A75}" srcOrd="0" destOrd="0" presId="urn:microsoft.com/office/officeart/2008/layout/VerticalCurvedList"/>
    <dgm:cxn modelId="{647EE23F-D566-4D9D-BB70-00B9F7D1390D}" type="presParOf" srcId="{65B89776-E7A5-403A-B36C-A50FAD9E1A75}" destId="{416E336B-9474-4E01-9C5E-28EDACB7ACCA}" srcOrd="0" destOrd="0" presId="urn:microsoft.com/office/officeart/2008/layout/VerticalCurvedList"/>
    <dgm:cxn modelId="{90CBC783-4EB1-49A4-AB76-2198B3C1C471}" type="presParOf" srcId="{65B89776-E7A5-403A-B36C-A50FAD9E1A75}" destId="{306B2BC2-4C3F-4E39-8734-E249E581000A}" srcOrd="1" destOrd="0" presId="urn:microsoft.com/office/officeart/2008/layout/VerticalCurvedList"/>
    <dgm:cxn modelId="{65CD3A24-AFF9-4970-80EF-7786D00CABB2}" type="presParOf" srcId="{65B89776-E7A5-403A-B36C-A50FAD9E1A75}" destId="{35C75BA4-B2B4-404F-B29E-11EA782C93F4}" srcOrd="2" destOrd="0" presId="urn:microsoft.com/office/officeart/2008/layout/VerticalCurvedList"/>
    <dgm:cxn modelId="{862AB40E-791E-40E4-B336-3FCF05503BEE}" type="presParOf" srcId="{65B89776-E7A5-403A-B36C-A50FAD9E1A75}" destId="{3F511BB4-453F-4673-AA48-A1A368BFA568}" srcOrd="3" destOrd="0" presId="urn:microsoft.com/office/officeart/2008/layout/VerticalCurvedList"/>
    <dgm:cxn modelId="{94084D8D-8735-4A29-8B21-A0CF7E02604A}" type="presParOf" srcId="{3A4ED215-C729-4EF2-B115-B0E873FF8C07}" destId="{1280B066-7734-4E88-8B9B-81947E427F40}" srcOrd="1" destOrd="0" presId="urn:microsoft.com/office/officeart/2008/layout/VerticalCurvedList"/>
    <dgm:cxn modelId="{6F067DD0-D2B0-458A-B397-951614822137}" type="presParOf" srcId="{3A4ED215-C729-4EF2-B115-B0E873FF8C07}" destId="{2CB55737-DE9D-47C7-8283-3E9D35324F64}" srcOrd="2" destOrd="0" presId="urn:microsoft.com/office/officeart/2008/layout/VerticalCurvedList"/>
    <dgm:cxn modelId="{601ABD10-7E7C-4985-BDAE-4EE8B5CC3DD9}" type="presParOf" srcId="{2CB55737-DE9D-47C7-8283-3E9D35324F64}" destId="{CD9B462A-E2C3-44C2-BFAA-57CE8D53C83B}" srcOrd="0" destOrd="0" presId="urn:microsoft.com/office/officeart/2008/layout/VerticalCurvedList"/>
    <dgm:cxn modelId="{9385DEF6-4701-42AB-9167-7EED7C8912E2}" type="presParOf" srcId="{3A4ED215-C729-4EF2-B115-B0E873FF8C07}" destId="{2A5369D1-98AC-47F5-9162-B242C3B952C6}" srcOrd="3" destOrd="0" presId="urn:microsoft.com/office/officeart/2008/layout/VerticalCurvedList"/>
    <dgm:cxn modelId="{46333945-5478-4602-B06A-6249B8A4656C}" type="presParOf" srcId="{3A4ED215-C729-4EF2-B115-B0E873FF8C07}" destId="{5F8F394B-D8AE-481D-9649-D53ED801D89A}" srcOrd="4" destOrd="0" presId="urn:microsoft.com/office/officeart/2008/layout/VerticalCurvedList"/>
    <dgm:cxn modelId="{6A18C559-ED13-4551-B998-8983A1317153}" type="presParOf" srcId="{5F8F394B-D8AE-481D-9649-D53ED801D89A}" destId="{2CF5A2B6-9F59-41B4-8DF7-686994696111}" srcOrd="0" destOrd="0" presId="urn:microsoft.com/office/officeart/2008/layout/VerticalCurvedList"/>
    <dgm:cxn modelId="{8550E21E-A51A-4F36-B807-D7C61B7CB415}" type="presParOf" srcId="{3A4ED215-C729-4EF2-B115-B0E873FF8C07}" destId="{3BF05695-EE00-4559-BA3B-2122E4C292EB}" srcOrd="5" destOrd="0" presId="urn:microsoft.com/office/officeart/2008/layout/VerticalCurvedList"/>
    <dgm:cxn modelId="{D6497202-0E97-4BD3-AAA4-E61FCAB845BB}" type="presParOf" srcId="{3A4ED215-C729-4EF2-B115-B0E873FF8C07}" destId="{F53ECFC4-AE78-4246-9D08-7D0BCA8D405B}" srcOrd="6" destOrd="0" presId="urn:microsoft.com/office/officeart/2008/layout/VerticalCurvedList"/>
    <dgm:cxn modelId="{2A44D012-A7ED-4781-8874-5E2B7E24412D}" type="presParOf" srcId="{F53ECFC4-AE78-4246-9D08-7D0BCA8D405B}" destId="{E4C5382B-019A-44AF-86A6-C1CC80F4437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B2BC2-4C3F-4E39-8734-E249E581000A}">
      <dsp:nvSpPr>
        <dsp:cNvPr id="0" name=""/>
        <dsp:cNvSpPr/>
      </dsp:nvSpPr>
      <dsp:spPr>
        <a:xfrm>
          <a:off x="-2929451" y="-451301"/>
          <a:ext cx="3495054" cy="3495054"/>
        </a:xfrm>
        <a:prstGeom prst="blockArc">
          <a:avLst>
            <a:gd name="adj1" fmla="val 18900000"/>
            <a:gd name="adj2" fmla="val 2700000"/>
            <a:gd name="adj3" fmla="val 618"/>
          </a:avLst>
        </a:pr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80B066-7734-4E88-8B9B-81947E427F40}">
      <dsp:nvSpPr>
        <dsp:cNvPr id="0" name=""/>
        <dsp:cNvSpPr/>
      </dsp:nvSpPr>
      <dsp:spPr>
        <a:xfrm>
          <a:off x="363663" y="259245"/>
          <a:ext cx="5634020" cy="5184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155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 deep learning method for representation of TCRs</a:t>
          </a:r>
        </a:p>
      </dsp:txBody>
      <dsp:txXfrm>
        <a:off x="363663" y="259245"/>
        <a:ext cx="5634020" cy="518490"/>
      </dsp:txXfrm>
    </dsp:sp>
    <dsp:sp modelId="{CD9B462A-E2C3-44C2-BFAA-57CE8D53C83B}">
      <dsp:nvSpPr>
        <dsp:cNvPr id="0" name=""/>
        <dsp:cNvSpPr/>
      </dsp:nvSpPr>
      <dsp:spPr>
        <a:xfrm>
          <a:off x="39606" y="194433"/>
          <a:ext cx="648112" cy="648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5369D1-98AC-47F5-9162-B242C3B952C6}">
      <dsp:nvSpPr>
        <dsp:cNvPr id="0" name=""/>
        <dsp:cNvSpPr/>
      </dsp:nvSpPr>
      <dsp:spPr>
        <a:xfrm>
          <a:off x="552134" y="1036980"/>
          <a:ext cx="5445549" cy="518490"/>
        </a:xfrm>
        <a:prstGeom prst="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155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Where supervised</a:t>
          </a:r>
          <a:r>
            <a:rPr lang="en-US" sz="1600" b="1" kern="1200" baseline="0" dirty="0"/>
            <a:t> and unsupervised methods are explored</a:t>
          </a:r>
          <a:endParaRPr lang="en-US" sz="1600" b="1" kern="1200" dirty="0"/>
        </a:p>
      </dsp:txBody>
      <dsp:txXfrm>
        <a:off x="552134" y="1036980"/>
        <a:ext cx="5445549" cy="518490"/>
      </dsp:txXfrm>
    </dsp:sp>
    <dsp:sp modelId="{2CF5A2B6-9F59-41B4-8DF7-686994696111}">
      <dsp:nvSpPr>
        <dsp:cNvPr id="0" name=""/>
        <dsp:cNvSpPr/>
      </dsp:nvSpPr>
      <dsp:spPr>
        <a:xfrm>
          <a:off x="228077" y="972169"/>
          <a:ext cx="648112" cy="648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F05695-EE00-4559-BA3B-2122E4C292EB}">
      <dsp:nvSpPr>
        <dsp:cNvPr id="0" name=""/>
        <dsp:cNvSpPr/>
      </dsp:nvSpPr>
      <dsp:spPr>
        <a:xfrm>
          <a:off x="363663" y="1814715"/>
          <a:ext cx="5634020" cy="518490"/>
        </a:xfrm>
        <a:prstGeom prst="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155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But also, a Python framework simplifying the analysis of TCRs </a:t>
          </a:r>
        </a:p>
      </dsp:txBody>
      <dsp:txXfrm>
        <a:off x="363663" y="1814715"/>
        <a:ext cx="5634020" cy="518490"/>
      </dsp:txXfrm>
    </dsp:sp>
    <dsp:sp modelId="{E4C5382B-019A-44AF-86A6-C1CC80F4437B}">
      <dsp:nvSpPr>
        <dsp:cNvPr id="0" name=""/>
        <dsp:cNvSpPr/>
      </dsp:nvSpPr>
      <dsp:spPr>
        <a:xfrm>
          <a:off x="39606" y="1749904"/>
          <a:ext cx="648112" cy="648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AD27A2-0E11-55D7-7C79-847BAF106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DEDDC0E-6D67-B985-FFE7-5CB439EA1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3CDED3-0BBC-69F5-3D3C-66A5404D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01CA39-C710-39E9-E588-C6F6ADA1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FC2562-8DD6-4C52-33D1-B6EF05CE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862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B4822E-5886-CFE0-2782-5132F10B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C23F05-B465-08D5-C80F-500D4DA37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069174-B263-88A7-49E8-8C5E0FD3F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3D4624-93EE-1F9A-0089-95DE0882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02CAE9-F82D-7968-6A89-CBD21272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80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F9FE50-6F3C-CA2E-74EE-25760BC7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11439C-DB6E-5D9A-7235-89E2A0D07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530005-BC08-D42A-B1FE-D6C8A976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B49E40-199F-383E-EF9F-8A2BFD2FC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851BB1-D997-ECFD-1C8B-1C0E988E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83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99C680-BEBF-75A1-4A62-A9CFFCB2F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587906-3FC2-220C-41AC-92995DA64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A5F0BD-952F-74A5-3543-C76FCA478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7E4B7E-39DD-B4E9-E427-D73F21143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C7E89A-0955-2BCD-57E5-C7D48558F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C72F63-3EB9-34C8-BEDE-BB3DF4FB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472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D68E06-753D-F3D1-B7A5-9FC33F75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FEED26-5068-455B-A580-0E7951690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E51C611-F470-7B5D-FF2B-B2A346E1E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59A59C6-F996-E4DE-974F-320B45D5A1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26A2ECD-B48C-24A7-B6FA-9BE0DE0190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65D735-C66E-319F-2C66-885E5293F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847E78B-B1B1-1898-1DD9-2C59149F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98D83D7-FF4E-C1BC-F9F5-B18DB4CF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05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F3B33F-6B3E-26E0-BDDC-4C9E6B19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130724-044D-FD5F-EB36-90C9FA635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952DF55-B1D8-BBC1-9B5F-D7A03CF4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AF80174-E261-CC50-E80A-C144E376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886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1C213D7-B8F0-07D1-4446-6AAD4D61D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57FAFBF-5FA4-073D-FF97-95390608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BFBCB9-1D1D-DB3C-D8F2-E39891F9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987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1BCE52-3A26-2F29-ED16-0773CEF96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E75F63-99ED-DD9B-833F-C042E0FE0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5E8D50-F087-18DC-B080-09A149160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CCA758-BFAE-3CC6-BB1E-413A0B3D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F0A3A0-CCB3-EEAA-4B85-BC363D59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FD7506-51B2-9805-218A-611B8563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952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0EF776-D305-934A-B165-69E22EB1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C096F14-CBF8-528F-A199-1259303D9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418A6A-6959-9250-B168-E17CBE730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4ECD3D-BE41-F740-97FA-CC0224F20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0BA409-B409-E0FA-A440-AF0614656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30D6FE-AA00-9696-E5EB-C0C08183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837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230DD4-A0F4-476A-922C-CE6CEE9EF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0A2F3E-5364-3262-6980-00F699650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34EDC2-BECD-5558-3E39-A9621B62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83B3E9-2D6D-D907-B359-A6BD6491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CF775D-BFF9-ED72-2E4F-690F19E48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636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E13746A-EF97-FE89-E1A3-F12661BF38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6E9E4CC-A798-D15D-A52F-EEC28EDE0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388D14-FCB9-C019-4BB7-AA3376890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EAE586-E9F9-1C5D-5873-52B836017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586ADF-DA97-A0FA-7867-8F38150E1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98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7179029-16C2-5D51-8B0E-C818579E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D59D7B-45F5-D779-2491-AE41A9F52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56E19C-E17C-3D9D-E78D-93B6913F7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69A07-A27A-4877-B1F5-21E49AB91A02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EF00DC-4D55-D1DE-EC55-9ADB4D558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959D9F-1C11-5B54-75C8-0D5B445AD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A5581-2802-410C-9B29-7FC00E6EBA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13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dhomj/DeepTC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5E1837A-C879-4271-12B0-C315593E5C7A}"/>
              </a:ext>
            </a:extLst>
          </p:cNvPr>
          <p:cNvSpPr txBox="1"/>
          <p:nvPr/>
        </p:nvSpPr>
        <p:spPr>
          <a:xfrm>
            <a:off x="4208634" y="68900"/>
            <a:ext cx="3774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What is DeepTCR ?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B644AC42-4611-0688-0EA8-4ED155092C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2847262"/>
              </p:ext>
            </p:extLst>
          </p:nvPr>
        </p:nvGraphicFramePr>
        <p:xfrm>
          <a:off x="3059167" y="652069"/>
          <a:ext cx="6029629" cy="2592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334EA27-5692-A352-EDB9-52F86921C9A7}"/>
              </a:ext>
            </a:extLst>
          </p:cNvPr>
          <p:cNvCxnSpPr>
            <a:cxnSpLocks/>
          </p:cNvCxnSpPr>
          <p:nvPr/>
        </p:nvCxnSpPr>
        <p:spPr>
          <a:xfrm>
            <a:off x="0" y="3363683"/>
            <a:ext cx="1219200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5D4AD593-9B63-2C9F-0309-3DB6B3631F7D}"/>
              </a:ext>
            </a:extLst>
          </p:cNvPr>
          <p:cNvSpPr txBox="1"/>
          <p:nvPr/>
        </p:nvSpPr>
        <p:spPr>
          <a:xfrm>
            <a:off x="190003" y="4545184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Use Deep Learning (in particular CNNs) in order to </a:t>
            </a:r>
            <a:r>
              <a:rPr lang="en-US" sz="2000" b="1" dirty="0">
                <a:solidFill>
                  <a:schemeClr val="accent2"/>
                </a:solidFill>
              </a:rPr>
              <a:t>extract important features </a:t>
            </a:r>
            <a:r>
              <a:rPr lang="en-US" sz="2000" dirty="0"/>
              <a:t>from sequencing data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C491E59-9000-1AEA-0414-9A64172DF0B7}"/>
              </a:ext>
            </a:extLst>
          </p:cNvPr>
          <p:cNvSpPr txBox="1"/>
          <p:nvPr/>
        </p:nvSpPr>
        <p:spPr>
          <a:xfrm>
            <a:off x="223937" y="5457737"/>
            <a:ext cx="58720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Learn sequence motifs and hence patterns useful for both </a:t>
            </a:r>
            <a:r>
              <a:rPr lang="en-US" sz="2000" b="1" dirty="0">
                <a:solidFill>
                  <a:schemeClr val="accent2"/>
                </a:solidFill>
              </a:rPr>
              <a:t>descriptive and predictive purposes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FAC6F6C-FBD0-0546-F5C7-78C5AA748DF2}"/>
              </a:ext>
            </a:extLst>
          </p:cNvPr>
          <p:cNvSpPr txBox="1"/>
          <p:nvPr/>
        </p:nvSpPr>
        <p:spPr>
          <a:xfrm>
            <a:off x="1194319" y="3741576"/>
            <a:ext cx="3797559" cy="578882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</a:rPr>
              <a:t>MAIN OBJECTIVES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E068B8F-927D-2A16-103A-DFD0912471D1}"/>
              </a:ext>
            </a:extLst>
          </p:cNvPr>
          <p:cNvCxnSpPr>
            <a:cxnSpLocks/>
          </p:cNvCxnSpPr>
          <p:nvPr/>
        </p:nvCxnSpPr>
        <p:spPr>
          <a:xfrm>
            <a:off x="6335486" y="4264796"/>
            <a:ext cx="0" cy="211734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4193836-0FFA-147F-C948-5923131E18D6}"/>
              </a:ext>
            </a:extLst>
          </p:cNvPr>
          <p:cNvSpPr/>
          <p:nvPr/>
        </p:nvSpPr>
        <p:spPr>
          <a:xfrm>
            <a:off x="6739253" y="3638737"/>
            <a:ext cx="4973216" cy="3018455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One common method used for TCR embedding </a:t>
            </a:r>
            <a:r>
              <a:rPr lang="en-US">
                <a:solidFill>
                  <a:schemeClr val="bg1"/>
                </a:solidFill>
              </a:rPr>
              <a:t>and featurization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Variational autoencoder for unsupervised learning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Perturbation analysis explored for the supervised learning case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sensitivity and importance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“Weakly supervised” method explored</a:t>
            </a:r>
            <a:endParaRPr lang="en-US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A5FFC34-6AC4-6168-8FA1-744C17071928}"/>
              </a:ext>
            </a:extLst>
          </p:cNvPr>
          <p:cNvSpPr txBox="1"/>
          <p:nvPr/>
        </p:nvSpPr>
        <p:spPr>
          <a:xfrm>
            <a:off x="7327081" y="3741576"/>
            <a:ext cx="3797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METHODS USED</a:t>
            </a:r>
          </a:p>
        </p:txBody>
      </p:sp>
      <p:sp>
        <p:nvSpPr>
          <p:cNvPr id="19" name="Flèche : virage 18">
            <a:extLst>
              <a:ext uri="{FF2B5EF4-FFF2-40B4-BE49-F238E27FC236}">
                <a16:creationId xmlns:a16="http://schemas.microsoft.com/office/drawing/2014/main" id="{33B54C2A-855E-CD25-A49F-B84532509916}"/>
              </a:ext>
            </a:extLst>
          </p:cNvPr>
          <p:cNvSpPr/>
          <p:nvPr/>
        </p:nvSpPr>
        <p:spPr>
          <a:xfrm rot="10800000" flipH="1" flipV="1">
            <a:off x="5850575" y="3653007"/>
            <a:ext cx="864629" cy="737825"/>
          </a:xfrm>
          <a:prstGeom prst="bentArrow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13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DDC9B7-76D9-CE0F-944E-F638102D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17"/>
            <a:ext cx="10515600" cy="1325563"/>
          </a:xfrm>
        </p:spPr>
        <p:txBody>
          <a:bodyPr/>
          <a:lstStyle/>
          <a:p>
            <a:r>
              <a:rPr lang="en-US" b="1" dirty="0"/>
              <a:t>TCR featurization: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70AF8-F020-2A4C-1041-A63C8738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232" y="1750980"/>
            <a:ext cx="10515600" cy="4351338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One common method </a:t>
            </a:r>
            <a:r>
              <a:rPr lang="en-US" dirty="0"/>
              <a:t>used for multiple architectures: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Embedding of the sequences with a trainable (or not) embedding layer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Three-layer CNN used to extract the most important features from the chains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Use of the V/D/J gene sequences with “one-hot” representation through an additional embedding layer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Combination of both CDR3 embeddings and V/D/J features to obtain an accurate and complete joint representation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35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70AF8-F020-2A4C-1041-A63C8738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98" y="245236"/>
            <a:ext cx="10515600" cy="13255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Use of Variational Autoencoder in order to  learn the underlying distribution of the sequence data to cluster TCR sequences (based on Hamming distances)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392F01-A7C9-DB40-979B-744339FCA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02" y="1570799"/>
            <a:ext cx="10227706" cy="51976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8BF168-E5C9-8F9E-6B88-57CB123DD66A}"/>
              </a:ext>
            </a:extLst>
          </p:cNvPr>
          <p:cNvSpPr/>
          <p:nvPr/>
        </p:nvSpPr>
        <p:spPr>
          <a:xfrm>
            <a:off x="4845698" y="6475443"/>
            <a:ext cx="2500604" cy="354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42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EA7B3F-2E7B-0CDB-263D-ABA6CC60E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0221"/>
            <a:ext cx="11027202" cy="4361734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C416FB47-C408-E7A2-25A0-81F3914F3354}"/>
              </a:ext>
            </a:extLst>
          </p:cNvPr>
          <p:cNvSpPr txBox="1">
            <a:spLocks/>
          </p:cNvSpPr>
          <p:nvPr/>
        </p:nvSpPr>
        <p:spPr>
          <a:xfrm>
            <a:off x="838200" y="46274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Supervised Classification:</a:t>
            </a:r>
          </a:p>
        </p:txBody>
      </p:sp>
    </p:spTree>
    <p:extLst>
      <p:ext uri="{BB962C8B-B14F-4D97-AF65-F5344CB8AC3E}">
        <p14:creationId xmlns:p14="http://schemas.microsoft.com/office/powerpoint/2010/main" val="128166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C416FB47-C408-E7A2-25A0-81F3914F3354}"/>
              </a:ext>
            </a:extLst>
          </p:cNvPr>
          <p:cNvSpPr txBox="1">
            <a:spLocks/>
          </p:cNvSpPr>
          <p:nvPr/>
        </p:nvSpPr>
        <p:spPr>
          <a:xfrm>
            <a:off x="838200" y="46274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Perturbation analysis: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DDD1115C-2255-7925-A435-7130CDAB7583}"/>
              </a:ext>
            </a:extLst>
          </p:cNvPr>
          <p:cNvSpPr txBox="1">
            <a:spLocks/>
          </p:cNvSpPr>
          <p:nvPr/>
        </p:nvSpPr>
        <p:spPr>
          <a:xfrm>
            <a:off x="567412" y="1125521"/>
            <a:ext cx="10515600" cy="13255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Ability to perturb the inputs and measure the change in the output of the supervised model </a:t>
            </a:r>
            <a:r>
              <a:rPr lang="en-US" dirty="0">
                <a:sym typeface="Wingdings" panose="05000000000000000000" pitchFamily="2" charset="2"/>
              </a:rPr>
              <a:t> Hence, determining the relative importance of antigen-specific binding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57C3862-6440-5F84-7D18-1CFC4B3DD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2" y="2578086"/>
            <a:ext cx="11339075" cy="3972004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52C908B-5FB3-503D-93B5-E6F5AC387B71}"/>
              </a:ext>
            </a:extLst>
          </p:cNvPr>
          <p:cNvSpPr/>
          <p:nvPr/>
        </p:nvSpPr>
        <p:spPr>
          <a:xfrm>
            <a:off x="1800808" y="2413367"/>
            <a:ext cx="1679510" cy="32943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21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DDC9B7-76D9-CE0F-944E-F638102D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15"/>
            <a:ext cx="10515600" cy="1325563"/>
          </a:xfrm>
        </p:spPr>
        <p:txBody>
          <a:bodyPr/>
          <a:lstStyle/>
          <a:p>
            <a:r>
              <a:rPr lang="en-US" b="1" dirty="0"/>
              <a:t>DeepTCR Python package: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70AF8-F020-2A4C-1041-A63C8738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232" y="141507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All the code is available freely on GitHub and it can be easily re-used if necessary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Clear and understandable code used throughout the package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Availability of easy tutorials to reproduce easy tasks with Jupyter notebooks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CAC3394-C685-D4DD-6E14-F86BADCC6423}"/>
              </a:ext>
            </a:extLst>
          </p:cNvPr>
          <p:cNvSpPr txBox="1"/>
          <p:nvPr/>
        </p:nvSpPr>
        <p:spPr>
          <a:xfrm>
            <a:off x="4710404" y="5243196"/>
            <a:ext cx="2771192" cy="578882"/>
          </a:xfrm>
          <a:prstGeom prst="round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REPO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80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DDC9B7-76D9-CE0F-944E-F638102D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674"/>
            <a:ext cx="10515600" cy="1325563"/>
          </a:xfrm>
        </p:spPr>
        <p:txBody>
          <a:bodyPr/>
          <a:lstStyle/>
          <a:p>
            <a:r>
              <a:rPr lang="en-US" b="1" dirty="0"/>
              <a:t>Paths not explored by DeepTCR: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70AF8-F020-2A4C-1041-A63C8738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232" y="1474237"/>
            <a:ext cx="10515600" cy="495834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Transfer learning pipeline for more performant model results </a:t>
            </a:r>
            <a:r>
              <a:rPr lang="en-US" dirty="0">
                <a:sym typeface="Wingdings" panose="05000000000000000000" pitchFamily="2" charset="2"/>
              </a:rPr>
              <a:t> use today state-of-the-art NLP-like methodology</a:t>
            </a:r>
          </a:p>
          <a:p>
            <a:r>
              <a:rPr lang="en-US" dirty="0">
                <a:sym typeface="Wingdings" panose="05000000000000000000" pitchFamily="2" charset="2"/>
              </a:rPr>
              <a:t>Determine the interpretability of the weights for the unsupervised case through a perturbation analysis</a:t>
            </a:r>
          </a:p>
          <a:p>
            <a:r>
              <a:rPr lang="en-US" dirty="0">
                <a:sym typeface="Wingdings" panose="05000000000000000000" pitchFamily="2" charset="2"/>
              </a:rPr>
              <a:t>Try different distances metrics to evaluate our model (TCRdist3?)</a:t>
            </a:r>
          </a:p>
          <a:p>
            <a:r>
              <a:rPr lang="en-US" dirty="0">
                <a:sym typeface="Wingdings" panose="05000000000000000000" pitchFamily="2" charset="2"/>
              </a:rPr>
              <a:t>Not clear which regularization is used </a:t>
            </a:r>
          </a:p>
          <a:p>
            <a:r>
              <a:rPr lang="en-US" dirty="0">
                <a:sym typeface="Wingdings" panose="05000000000000000000" pitchFamily="2" charset="2"/>
              </a:rPr>
              <a:t>Generate “artificial TCR sequences” that would have a similar binding specificity as other TCRs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ym typeface="Wingdings" panose="05000000000000000000" pitchFamily="2" charset="2"/>
              </a:rPr>
              <a:t> Clustering methods in general are not really explored  use and evaluation of the embeddings obtained with VAE in clustering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205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364</Words>
  <Application>Microsoft Office PowerPoint</Application>
  <PresentationFormat>Grand écran</PresentationFormat>
  <Paragraphs>38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Thème Office</vt:lpstr>
      <vt:lpstr>Présentation PowerPoint</vt:lpstr>
      <vt:lpstr>TCR featurization:</vt:lpstr>
      <vt:lpstr>Présentation PowerPoint</vt:lpstr>
      <vt:lpstr>Présentation PowerPoint</vt:lpstr>
      <vt:lpstr>Présentation PowerPoint</vt:lpstr>
      <vt:lpstr>DeepTCR Python package:</vt:lpstr>
      <vt:lpstr>Paths not explored by DeepTCR: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Yanis Miraoui</dc:creator>
  <cp:lastModifiedBy>Yanis Miraoui</cp:lastModifiedBy>
  <cp:revision>19</cp:revision>
  <dcterms:created xsi:type="dcterms:W3CDTF">2022-10-24T13:08:55Z</dcterms:created>
  <dcterms:modified xsi:type="dcterms:W3CDTF">2022-10-25T10:13:08Z</dcterms:modified>
</cp:coreProperties>
</file>